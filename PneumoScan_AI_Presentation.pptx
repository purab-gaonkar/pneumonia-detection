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22960"/>
            <a:ext cx="10360152" cy="51206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64008" cy="5120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0058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PneumoScan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</a:rPr>
              <a:t>Pneumonia Detection from Chest X-Rays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834640"/>
            <a:ext cx="5788152" cy="274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ECC"/>
                </a:solidFill>
              </a:rPr>
              <a:t>An AI-powered web application using a Deep Learning Ensemble
(DenseNet121 · ResNet50V2 · MobileNetV2) with OOD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4206240"/>
            <a:ext cx="17373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206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TensorFlow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4206240"/>
            <a:ext cx="1737360" cy="34747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4206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FastAPI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4206240"/>
            <a:ext cx="1737360" cy="3474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4206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scikit-learn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4206240"/>
            <a:ext cx="173736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206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HTML/CSS/JS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ECC"/>
                </a:solidFill>
              </a:rPr>
              <a:t>For Educational &amp; Research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Why automated pneumonia detection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Why automated pneumonia detection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188720"/>
            <a:ext cx="2651760" cy="18288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C3545"/>
                </a:solidFill>
              </a:rPr>
              <a:t>2.5 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Deaths per year
globally from pneumonia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188720"/>
            <a:ext cx="2651760" cy="18288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188720"/>
            <a:ext cx="265176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107"/>
                </a:solidFill>
              </a:rPr>
              <a:t>14 Sec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965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Average expert radiologist
review time per X-ray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188720"/>
            <a:ext cx="2651760" cy="18288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265176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2FFF"/>
                </a:solidFill>
              </a:rPr>
              <a:t>20-30%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965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X-rays misdiagnosed
even by trained specialists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188720"/>
            <a:ext cx="2651760" cy="18288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18872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</a:rPr>
              <a:t>Billions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965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People lack access to
qualified radiologists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46120"/>
            <a:ext cx="11274552" cy="14630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246120"/>
            <a:ext cx="54864" cy="14630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337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C"/>
                </a:solidFill>
              </a:rPr>
              <a:t>Manual chest X-ray analysis is time-consuming, costly, and subject to human error.
An AI-assisted system can provide rapid, consistent, and accessible preliminary screening —
especially critical in resource-constrained settings.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92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Our Solution: An ensemble deep learning model that classifies chest X-rays 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846320"/>
            <a:ext cx="141732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48463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NORMAL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4846320"/>
            <a:ext cx="173736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4846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PNEUMONIA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48920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with a confidence score.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ECC"/>
                </a:solidFill>
              </a:rPr>
              <a:t>⚠  This tool is for educational and research purposes only. Always consult a qualified healthcare provider.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B2FFF"/>
                </a:solidFill>
              </a:rPr>
              <a:t>What PneumoScan AI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22402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🧠  Deep Learning
Ensemble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530352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DenseNet121, ResNet50V2 &amp;
MobileNetV2 combined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Transfer learning from
ImageNet weights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Fine-tuned on chest X-ray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577840" cy="22402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98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FFF"/>
                </a:solidFill>
              </a:rPr>
              <a:t>🔍  OOD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45920"/>
            <a:ext cx="530352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Isolation Forest algorithm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Validates image is a real X-ray
before diagnosis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Rejects random / invalid 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577840" cy="22402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🌐  Web Application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14800"/>
            <a:ext cx="530352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Drag-and-drop X-ray upload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Real-time AI diagnosis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Confidence score display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577840" cy="22402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FFF"/>
                </a:solidFill>
              </a:rPr>
              <a:t>⚡  FastAPI 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4114800"/>
            <a:ext cx="530352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160520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Async Python API server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TensorFlow model inference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B0BECC"/>
                </a:solidFill>
              </a:rPr>
              <a:t>•  Instant JSON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ECC"/>
                </a:solidFill>
              </a:rPr>
              <a:t>⚠  For educational &amp; research purposes only. Not a substitute for professional medical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Libraries, frameworks &amp; tools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566160" cy="2148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5661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TensorFlow / Keras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Deep learning framework used to build,
train and run the CNN ensemble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566160" cy="2148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56616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2FFF"/>
                </a:solidFill>
              </a:rPr>
              <a:t>scikit-learn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83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Provides the Isolation Forest algorithm
for Out-of-Distribution detection.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3566160" cy="2148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88720"/>
            <a:ext cx="356616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107"/>
                </a:solidFill>
              </a:rPr>
              <a:t>FastAPI + Uvicorn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783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High-performance async Python web
framework serving the prediction API.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3566160" cy="2148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356616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03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8A745"/>
                </a:solidFill>
              </a:rPr>
              <a:t>Pillow / NumPy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Image I/O and array manipulation
for pre-processing X-ray images.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566160"/>
            <a:ext cx="3566160" cy="2148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566160"/>
            <a:ext cx="3566160" cy="5486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703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C3545"/>
                </a:solidFill>
              </a:rPr>
              <a:t>HTML / CSS / 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1605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Glassmorphism frontend with drag-and-drop
upload and animated result display.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566160"/>
            <a:ext cx="3566160" cy="2148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566160"/>
            <a:ext cx="3566160" cy="54864"/>
          </a:xfrm>
          <a:prstGeom prst="rect">
            <a:avLst/>
          </a:prstGeom>
          <a:solidFill>
            <a:srgbClr val="B0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3703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0BECC"/>
                </a:solidFill>
              </a:rPr>
              <a:t>Joblib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1605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Serialises and loads the trained
Isolation Forest model to disk.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ECC"/>
                </a:solidFill>
              </a:rPr>
              <a:t>⚠  For educational &amp; research purposes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Chest X-Ray Images — Pneumonia (Kaggle / NIH)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4389120" cy="41148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Dataset Directory 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27632"/>
            <a:ext cx="41148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chest_xray/
  ├── train/
  │     ├── NORMAL/
  │     └── PNEUMONIA/
  ├── val/
  │     ├── NORMAL/
  │     └── PNEUMONIA/
  └── test/
        ├── NORMAL/
        └── PNEUMONIA/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143000"/>
            <a:ext cx="3063240" cy="18288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1143000"/>
            <a:ext cx="30632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2344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</a:rPr>
              <a:t>~5,216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96596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Training
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143000"/>
            <a:ext cx="3063240" cy="18288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143000"/>
            <a:ext cx="306324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B2FFF"/>
                </a:solidFill>
              </a:rPr>
              <a:t>~16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96596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Validation
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3246120"/>
            <a:ext cx="3063240" cy="18288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0" y="3246120"/>
            <a:ext cx="306324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33756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107"/>
                </a:solidFill>
              </a:rPr>
              <a:t>~624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06908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Test
Images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3246120"/>
            <a:ext cx="3063240" cy="18288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0" y="3246120"/>
            <a:ext cx="306324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333756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8A745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06908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Classes:
Normal / Pneumonia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94960"/>
            <a:ext cx="11274552" cy="7772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394960"/>
            <a:ext cx="54864" cy="7772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58968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Pre-processing:  Images resized to 224×224 px  •  Normalised per-model  •  Data augmentation applied to training set
(Random Horizontal Flip  •  Random Rotation ±10°  •  Random Zoom ±10%)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ECC"/>
                </a:solidFill>
              </a:rPr>
              <a:t>⚠  For educational &amp; research purposes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Deep Learning Ensemble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Three CNNs fused into one powerful classifier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011680" cy="8229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Input X-Ray
224 × 224 ×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38988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097280"/>
            <a:ext cx="3200400" cy="1417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097280"/>
            <a:ext cx="3200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188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DenseNet121
(densenet_block)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645919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Dense connections
ImageNet pretrained
Last 20 layers fine-tuned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5544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743200"/>
            <a:ext cx="3200400" cy="1417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2743200"/>
            <a:ext cx="320040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</a:rPr>
              <a:t>MobileNetV2
(mobilenet_block)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2918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Lightweight, fast
ImageNet pretrained
Last 20 layers fine-tuned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2004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389120"/>
            <a:ext cx="3200400" cy="1417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4389120"/>
            <a:ext cx="32004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44805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ResNet50V2
(resnet_block)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937759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Residual learning
ImageNet pretrained
Last 20 layers fine-tuned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8463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371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GlobalAvgPool2D
+ Dropout(0.3)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5544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B2FFF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15544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B2FFF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0175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GlobalAvgPool2D
+ Dropout(0.3)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2004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B2FFF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2004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B2FFF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6634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GlobalAvgPool2D
+ Dropout(0.3)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463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B2FFF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8463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B2FFF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2011680"/>
            <a:ext cx="1645920" cy="12801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2011680"/>
            <a:ext cx="164592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2029968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2FFF"/>
                </a:solidFill>
              </a:rPr>
              <a:t>Concatenate
(3 feature
vectors)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245059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2011680"/>
            <a:ext cx="1554480" cy="12801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2011680"/>
            <a:ext cx="155448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2029968"/>
            <a:ext cx="1554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Dense(256)
ReLU
Dropout(0.4)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245059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8A745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72800" y="1920240"/>
            <a:ext cx="1097280" cy="14630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0" y="196596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Dense(1)
Sigmoid
Output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029200"/>
            <a:ext cx="11612880" cy="14630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5029200"/>
            <a:ext cx="54864" cy="14630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</a:rPr>
              <a:t>Two-Phase Training Strategy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440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Phase 1 — Feature Extraction:  Freeze all base model layers. Train only the new head (Dense + Dropout) for 10 epochs (Adam lr=1e-3, EarlyStopping patience=3).
Phase 2 — Fine-Tuning:  Unfreeze last 20 layers of each base model. Re-train for 5 epochs (Adam lr=1e-5) to adapt high-level features to chest X-rays.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ECC"/>
                </a:solidFill>
              </a:rPr>
              <a:t>⚠  For educational &amp; research purposes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Three CNN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B2FFF"/>
                </a:solidFill>
              </a:rPr>
              <a:t>Each model contributes unique feature representations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566160" cy="48920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5661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</a:rPr>
              <a:t>DenseNet121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572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Dense connectivity: each layer
receives inputs from all prior layers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4572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121 layers, 8 million parameters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4572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Excellent gradient flow, reduces
overfitting on small datasets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46320"/>
            <a:ext cx="4572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84632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Best for capturing fine-grained
local features in X-rays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188720"/>
            <a:ext cx="3566160" cy="48920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188720"/>
            <a:ext cx="3566160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2527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ResNet50V2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1828800"/>
            <a:ext cx="45720" cy="685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8288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Residual / skip connections solve
the vanishing gradient problem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834640"/>
            <a:ext cx="45720" cy="685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8346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50 layers, ~25 million parameters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840480"/>
            <a:ext cx="45720" cy="685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8404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Strong at learning global structure
and context in the image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846320"/>
            <a:ext cx="45720" cy="685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84632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V2 variant: BN before activation
for improved training stability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188720"/>
            <a:ext cx="3566160" cy="48920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188720"/>
            <a:ext cx="3566160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2527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2FFF"/>
                </a:solidFill>
              </a:rPr>
              <a:t>MobileNetV2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1828800"/>
            <a:ext cx="45720" cy="685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18288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Inverted residuals &amp; depthwise
separable convolutions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2834640"/>
            <a:ext cx="45720" cy="685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28346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3.4 million parameters — very lightweight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3840480"/>
            <a:ext cx="45720" cy="685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8404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Also used as feature extractor
for the OOD Isolation Forest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4846320"/>
            <a:ext cx="45720" cy="685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484632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Fast inference, ideal for
web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All three models are pre-trained on ImageNet and fine-tuned on the chest X-ray dataset. Their concatenated feature vectors give the ensemble a richer, more robust representation than any single model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Out-of-Distribution (OOD)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3545"/>
                </a:solidFill>
              </a:rPr>
              <a:t>Ensuring only valid chest X-rays are analysed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03520" cy="23774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" cy="23774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070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3545"/>
                </a:solidFill>
              </a:rPr>
              <a:t>What is OOD?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Out-of-Distribution images are inputs that differ significantly from the training data — e.g. a photo of a cat or a random picture uploaded instead of a chest X-ray.
Without OOD detection, the model would still produce a prediction even on nonsensical inputs, leading to misleading results.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43000"/>
            <a:ext cx="5760720" cy="23774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54864" cy="2377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07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107"/>
                </a:solidFill>
              </a:rPr>
              <a:t>How It Works — Isolation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276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1. MobileNetV2 extracts a feature vector from the image.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2. Isolation Forest was trained on features of ~2,000 real X-rays.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957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3. At inference, it scores the new image against learned distribution.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797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4. Score –1 → Outlier (reject as 'Not an X-ray').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63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5. Score +1 → Inlier → proceed to ensemble diagnosis.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11430000" cy="18288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11430000" cy="45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130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</a:rPr>
              <a:t>Decision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51960"/>
            <a:ext cx="2011680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519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Upload
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4251960"/>
            <a:ext cx="2011680" cy="7772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2519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
Extraction
(MobileNetV2)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4251960"/>
            <a:ext cx="2011680" cy="7772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42519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Isolation
Forest
Scoring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3886200"/>
            <a:ext cx="2011680" cy="7772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38862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✗  Not an X-Ray
(Rejected)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4754880"/>
            <a:ext cx="2011680" cy="7772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47548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 Valid X-Ray
→ Diagnosis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44348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4348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4348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3545"/>
                </a:solidFill>
              </a:rPr>
              <a:t>–1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4919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+1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ECC"/>
                </a:solidFill>
              </a:rPr>
              <a:t>⚠  For educational &amp; research purposes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Training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How the models are built — step by step (train.py)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74320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79" y="1298448"/>
            <a:ext cx="38404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2984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258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Load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78308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Load train/val splits from disk.
Apply data augmentation to training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188720"/>
            <a:ext cx="274320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298448"/>
            <a:ext cx="384048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2984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3258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</a:rPr>
              <a:t>Build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8308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Construct three parallel CNN branches
sharing a single input layer.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188720"/>
            <a:ext cx="274320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188720"/>
            <a:ext cx="27432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298448"/>
            <a:ext cx="384048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2984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3258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Phase 1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78308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Freeze base models, train top Dense head.
10 epochs, Adam lr=1e-3, EarlyStopping.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188720"/>
            <a:ext cx="274320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1188720"/>
            <a:ext cx="274320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20" y="1298448"/>
            <a:ext cx="384048" cy="3840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2984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3258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</a:rPr>
              <a:t>Phase 2 Fine-Tuning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78308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Unfreeze last 20 layers per base model.
5 epochs, Adam lr=1e-5.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11880"/>
            <a:ext cx="274320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61188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79" y="3721608"/>
            <a:ext cx="38404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37216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749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Save Ensemble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420624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Save full model to
models/pneumonia_ensemble_model.h5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3611880"/>
            <a:ext cx="274320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46120" y="3611880"/>
            <a:ext cx="2743200" cy="5486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37560" y="3721608"/>
            <a:ext cx="384048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37216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749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3545"/>
                </a:solidFill>
              </a:rPr>
              <a:t>Train OOD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420624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Extract MobileNetV2 features for ~2,000 training
images. Fit Isolation Forest (contamination=0.01).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611880"/>
            <a:ext cx="274320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3611880"/>
            <a:ext cx="27432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3721608"/>
            <a:ext cx="384048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37216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3749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Save OOD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20624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Serialize Isolation Forest to
models/ood_isolation_forest.pkl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ECC"/>
                </a:solidFill>
              </a:rPr>
              <a:t>⚠  For educational &amp; research purposes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Web Application — PneumoScan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B2FFF"/>
                </a:solidFill>
              </a:rPr>
              <a:t>Glassmorphism UI served by FastAPI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52120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solidFill>
            <a:srgbClr val="1E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●  ● 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  http://localhost:8000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⊕  PneumoScan 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8A745"/>
                </a:solidFill>
              </a:rPr>
              <a:t>● Model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965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Intelligent Chest X-Ray 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14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Upload a chest X-ray for instant pneumonia detection using our ensemble of CNNs.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5212080" cy="30632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📁  Upload Scan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337560"/>
            <a:ext cx="4754880" cy="2057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832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⬆
Drag &amp; Drop your X-ray
PNG · JPG · JPEG
[ Browse Files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880360"/>
            <a:ext cx="5394960" cy="30632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337560"/>
            <a:ext cx="4937760" cy="6400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3375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🔴  PNEUMONIA  —  Confidence: 93.2%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4069080"/>
            <a:ext cx="4937760" cy="3657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8A745"/>
                </a:solidFill>
              </a:rPr>
              <a:t>X-Ray Validation:  ✓ Confirmed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526280"/>
            <a:ext cx="4937760" cy="5486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526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ECC"/>
                </a:solidFill>
              </a:rPr>
              <a:t>ℹ  This AI tool is for educational purposes only.
Always consult a medical professional for diagnosis.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212080"/>
            <a:ext cx="150876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212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DenseNet121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5212080"/>
            <a:ext cx="150876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5212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ResNet50V2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5212080"/>
            <a:ext cx="150876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5212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MobileNetV2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ECC"/>
                </a:solidFill>
              </a:rPr>
              <a:t>⚠  For educational &amp; research purposes only. Not a substitute for professional medical advice.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Inference &amp; API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How a prediction is made at runtime (app.py)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286000" cy="15544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286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User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Browser sends
POST /predict
with image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188720"/>
            <a:ext cx="2286000" cy="15544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188720"/>
            <a:ext cx="228600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280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</a:rPr>
              <a:t>Pre-process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691640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Decode → RGB
Resize 224×224
np.array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188720"/>
            <a:ext cx="2286000" cy="15544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0" y="1188720"/>
            <a:ext cx="2286000" cy="5486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280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3545"/>
                </a:solidFill>
              </a:rPr>
              <a:t>OOD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691640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MobileNetV2
feature extract
Isolation Forest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1188720"/>
            <a:ext cx="2286000" cy="15544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1188720"/>
            <a:ext cx="2286000" cy="5486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280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3545"/>
                </a:solidFill>
              </a:rPr>
              <a:t>Reject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691640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Return:
is_xray=False
(Not an X-ray)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3017520"/>
            <a:ext cx="2286000" cy="15544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80" y="3017520"/>
            <a:ext cx="228600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3108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</a:rPr>
              <a:t>Ensemble Infer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520439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ensemble_model
.predict(image)
→ probability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017520"/>
            <a:ext cx="2286000" cy="15544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3017520"/>
            <a:ext cx="2286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108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Response 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520439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{"prediction":
"Pneumonia",
"confidence":93}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C3545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1554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545"/>
                </a:solidFill>
              </a:rPr>
              <a:t>–1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788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8A745"/>
                </a:solidFill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6334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A745"/>
                </a:solidFill>
              </a:rPr>
              <a:t>+1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35661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754880"/>
            <a:ext cx="11612880" cy="15087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754880"/>
            <a:ext cx="54864" cy="1508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8188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Sample Response 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166360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{ "status": "success",  "is_xray": true,  "prediction": "Pneumonia",
  "confidence": 93.2,  "message": "Detection Complete: Pneumonia."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ECC"/>
                </a:solidFill>
              </a:rPr>
              <a:t>⚠  For educational &amp; research purposes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Evaluation &amp;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A745"/>
                </a:solidFill>
              </a:rPr>
              <a:t>How we measure model performance (evaluate_model.py)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19659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% of total images
correctly classified
as Normal or Pneumonia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19659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9844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2FFF"/>
                </a:solidFill>
              </a:rPr>
              <a:t>AUC-ROC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47088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Area Under the ROC
curve — measures
ranking quality (0→1)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5486400" cy="19659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54864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930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107"/>
                </a:solidFill>
              </a:rPr>
              <a:t>Confusion
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41648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True Positives, True Negatives,
False Positives, False Negatives
visualised as heatmap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5486400" cy="19659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548640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4930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8A745"/>
                </a:solidFill>
              </a:rPr>
              <a:t>Loss
(Binary X-Entropy)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041648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Training &amp; validation loss
monitored per epoch;
EarlyStopping on val_loss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623560"/>
            <a:ext cx="11430000" cy="86868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623560"/>
            <a:ext cx="54864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Why Ensemble?  Combining DenseNet121, ResNet50V2, and MobileNetV2 reduces individual model bias and variance. Each architecture captures complementary features — local textures, global structure, and efficient edge representations — leading to higher overall accuracy and robustness.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ECC"/>
                </a:solidFill>
              </a:rPr>
              <a:t>⚠  For educational &amp; research purposes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to Run 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Getting PneumoScan AI up and running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56616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5661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1.  Clone the Repo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329184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A745"/>
                </a:solidFill>
              </a:rPr>
              <a:t>git clone &lt;repo-url&gt;
cd pneumonia-detection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56616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56616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298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</a:rPr>
              <a:t>2.  Install Dependencies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783080"/>
            <a:ext cx="329184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74519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A745"/>
                </a:solidFill>
              </a:rPr>
              <a:t>pip install -r requirements.txt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356616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188720"/>
            <a:ext cx="356616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298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</a:rPr>
              <a:t>3.  Add Dataset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1783080"/>
            <a:ext cx="329184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874519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A745"/>
                </a:solidFill>
              </a:rPr>
              <a:t>Place Kaggle chest_xray/ folder
relative to the project root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356616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657600"/>
            <a:ext cx="356616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67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8A745"/>
                </a:solidFill>
              </a:rPr>
              <a:t>4.  Train the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29184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4340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A745"/>
                </a:solidFill>
              </a:rPr>
              <a:t>python train.py
(GPU recommended)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657600"/>
            <a:ext cx="356616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3657600"/>
            <a:ext cx="35661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767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5.  Start the Server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251960"/>
            <a:ext cx="329184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34340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A745"/>
                </a:solidFill>
              </a:rPr>
              <a:t>python app.py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657600"/>
            <a:ext cx="3566160" cy="219456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657600"/>
            <a:ext cx="356616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3767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</a:rPr>
              <a:t>6.  Open the App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80" y="4251960"/>
            <a:ext cx="3291840" cy="1417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34340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A745"/>
                </a:solidFill>
              </a:rPr>
              <a:t>http://localhost:8000
Drag &amp; drop a chest X-ray!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ECC"/>
                </a:solidFill>
              </a:rPr>
              <a:t>⚠  For educational &amp; research purposes only. Not a substitute for professional medical advice.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57200"/>
            <a:ext cx="10360152" cy="59436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"/>
            <a:ext cx="64008" cy="59436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25880"/>
            <a:ext cx="57881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C"/>
                </a:solidFill>
              </a:rPr>
              <a:t>✅  Ensemble of DenseNet121, ResNet50V2 &amp; MobileNetV2 for robust pneumonia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57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C"/>
                </a:solidFill>
              </a:rPr>
              <a:t>✅  OOD detection (Isolation Forest) prevents incorrect analysis of non-X-ray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C"/>
                </a:solidFill>
              </a:rPr>
              <a:t>✅  Two-phase transfer learning: feature extraction → fine-tuning for high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46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C"/>
                </a:solidFill>
              </a:rPr>
              <a:t>✅  FastAPI backend + Glassmorphism web UI for a seamless user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C"/>
                </a:solidFill>
              </a:rPr>
              <a:t>✅  Confidence score returned with every prediction for interpretability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34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C"/>
                </a:solidFill>
              </a:rPr>
              <a:t>✅  Fully open-source — clone, train, and deploy on your own hardware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120640"/>
            <a:ext cx="9418320" cy="1005840"/>
          </a:xfrm>
          <a:prstGeom prst="rect">
            <a:avLst/>
          </a:prstGeom>
          <a:solidFill>
            <a:srgbClr val="2D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5120640"/>
            <a:ext cx="64008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3545"/>
                </a:solidFill>
              </a:rPr>
              <a:t>⚠  Medical Disclaimer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53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This AI tool is for educational and research purposes ONLY. It is NOT a substitute for professional medical advice, diagnosis, or treatment. Always consult a qualified healthcare provider.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